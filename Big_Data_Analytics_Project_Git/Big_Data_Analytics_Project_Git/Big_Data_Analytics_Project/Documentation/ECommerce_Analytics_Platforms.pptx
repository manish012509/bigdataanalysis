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562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</a:rPr>
              <a:t>DS 610 — Big Data Analytics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E-Commerce Predictive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</a:rPr>
              <a:t>Analytics Platform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Using Apache Spark ML to deliver customer intelligence, revenue forecasting, and churn prediction from 50,000 transactions across 5,000 customers.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920240" cy="8229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50K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886200"/>
            <a:ext cx="1920240" cy="8229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886200"/>
            <a:ext cx="1920240" cy="8229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920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Products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3886200"/>
            <a:ext cx="1920240" cy="8229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$52.4M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928808" y="502920"/>
            <a:ext cx="30323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 smtClean="0">
                <a:solidFill>
                  <a:srgbClr val="E2E8F0"/>
                </a:solidFill>
              </a:rPr>
              <a:t>Presented By:</a:t>
            </a:r>
          </a:p>
          <a:p>
            <a:endParaRPr lang="en-IN" sz="1300" dirty="0" smtClean="0">
              <a:solidFill>
                <a:srgbClr val="E2E8F0"/>
              </a:solidFill>
            </a:endParaRPr>
          </a:p>
          <a:p>
            <a:r>
              <a:rPr lang="en-IN" sz="1300" dirty="0" smtClean="0">
                <a:solidFill>
                  <a:srgbClr val="E2E8F0"/>
                </a:solidFill>
              </a:rPr>
              <a:t>Manish </a:t>
            </a:r>
            <a:r>
              <a:rPr lang="en-IN" sz="1300" dirty="0" err="1" smtClean="0">
                <a:solidFill>
                  <a:srgbClr val="E2E8F0"/>
                </a:solidFill>
              </a:rPr>
              <a:t>Lakshmipuram</a:t>
            </a:r>
            <a:r>
              <a:rPr lang="en-IN" sz="1300" dirty="0" smtClean="0">
                <a:solidFill>
                  <a:srgbClr val="E2E8F0"/>
                </a:solidFill>
              </a:rPr>
              <a:t>  - </a:t>
            </a:r>
            <a:r>
              <a:rPr lang="en-IN" sz="1300" dirty="0" smtClean="0">
                <a:solidFill>
                  <a:srgbClr val="E2E8F0"/>
                </a:solidFill>
              </a:rPr>
              <a:t>1058408</a:t>
            </a:r>
          </a:p>
          <a:p>
            <a:r>
              <a:rPr lang="en-US" sz="1300" dirty="0" err="1" smtClean="0">
                <a:solidFill>
                  <a:srgbClr val="E2E8F0"/>
                </a:solidFill>
              </a:rPr>
              <a:t>Sneha</a:t>
            </a:r>
            <a:r>
              <a:rPr lang="en-US" sz="1300" dirty="0" smtClean="0">
                <a:solidFill>
                  <a:srgbClr val="E2E8F0"/>
                </a:solidFill>
              </a:rPr>
              <a:t> </a:t>
            </a:r>
            <a:r>
              <a:rPr lang="en-US" sz="1300" dirty="0" err="1" smtClean="0">
                <a:solidFill>
                  <a:srgbClr val="E2E8F0"/>
                </a:solidFill>
              </a:rPr>
              <a:t>Gurampally</a:t>
            </a:r>
            <a:r>
              <a:rPr lang="en-US" sz="1300" dirty="0" smtClean="0">
                <a:solidFill>
                  <a:srgbClr val="E2E8F0"/>
                </a:solidFill>
              </a:rPr>
              <a:t> </a:t>
            </a:r>
            <a:r>
              <a:rPr lang="en-US" sz="1300" dirty="0" err="1" smtClean="0">
                <a:solidFill>
                  <a:srgbClr val="E2E8F0"/>
                </a:solidFill>
              </a:rPr>
              <a:t>Malkan</a:t>
            </a:r>
            <a:r>
              <a:rPr lang="en-US" sz="1300" dirty="0" smtClean="0">
                <a:solidFill>
                  <a:srgbClr val="E2E8F0"/>
                </a:solidFill>
              </a:rPr>
              <a:t> - 1040784</a:t>
            </a:r>
            <a:endParaRPr lang="en-US" sz="1300" dirty="0">
              <a:solidFill>
                <a:srgbClr val="E2E8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Business context, problem statement &amp; objectives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91440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1440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97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Architecture &amp; Tech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167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Databricks, Apache Spark, PySpark ML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2024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103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&amp; EDA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22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Datasets, schema, exploratory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92024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92024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03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ML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322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K-Means clustering, Random Forest, Logistic Regression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Business Analytics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Revenue, category, regional &amp; segment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92608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92608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08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Results &amp; Insights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3284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KPIs, model metrics, key findings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93192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93192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114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334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Interactive analytics visualizations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3931920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931920"/>
            <a:ext cx="4114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114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3342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Summary, limitations &amp; future work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86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E-commerce companies struggle to extract actionable insights from high-volume transaction data, leading to poor customer retention and missed revenue opportunities.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82296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886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170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 scalable PySpark ML platform on Databricks that performs customer segmentation, revenue prediction, churn classification, and RFM analysis at scale.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517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52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K-Means clustering to identify distinct customer behavior groups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4688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26517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Revenue Forecasting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2852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 regression to predict transaction amounts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46888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65176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Churn Prediction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852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Logistic Regression to classify at-risk customers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74904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RFM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950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Recency, Frequency, Monetary customer value scoring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56616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74904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333756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9319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CLV Prediction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31920" y="3950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Forecast customer lifetime value for strategic planning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566160"/>
            <a:ext cx="2743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3749040"/>
            <a:ext cx="502920" cy="502920"/>
          </a:xfrm>
          <a:prstGeom prst="ellipse">
            <a:avLst/>
          </a:prstGeom>
          <a:solidFill>
            <a:srgbClr val="F0FDFA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Business Intelligence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3950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Comprehensive dashboards for executive decision-making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389120" y="1508760"/>
            <a:ext cx="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2377440"/>
            <a:ext cx="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3246120"/>
            <a:ext cx="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4114800"/>
            <a:ext cx="0" cy="13716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914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969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customers_data.csv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969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products_data.csv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914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969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transactions_data.csv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8595360" cy="658368"/>
          </a:xfrm>
          <a:prstGeom prst="rect">
            <a:avLst/>
          </a:prstGeom>
          <a:solidFill>
            <a:srgbClr val="0F4C5C"/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INGESTION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178308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Databricks DBFS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78308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Unity Catalog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178308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Delta 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560320"/>
            <a:ext cx="8595360" cy="658368"/>
          </a:xfrm>
          <a:prstGeom prst="rect">
            <a:avLst/>
          </a:prstGeom>
          <a:solidFill>
            <a:srgbClr val="0D5C4A"/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24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PROCESSING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65176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331720" y="27066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Apache Spark SQL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65176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27066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PySpark DataFrames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265176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27066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MLlib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429000"/>
            <a:ext cx="8595360" cy="658368"/>
          </a:xfrm>
          <a:prstGeom prst="rect">
            <a:avLst/>
          </a:prstGeom>
          <a:solidFill>
            <a:srgbClr val="145C3A"/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93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ML MODELS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0" y="352044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331720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KMeans Clustering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52044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Random Forest Regressor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352044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03720" y="3575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51960"/>
            <a:ext cx="8595360" cy="658368"/>
          </a:xfrm>
          <a:prstGeom prst="rect">
            <a:avLst/>
          </a:prstGeom>
          <a:solidFill>
            <a:srgbClr val="1A5E2A"/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16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0" y="4343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331720" y="4398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Matplotlib / Seaborn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4343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617720" y="4398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 Dashboards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4343400"/>
            <a:ext cx="2011680" cy="475488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43982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KPI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Apache Spark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Distributed Computing Engine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In-memory cluster computing for large-scale data processing across CSV joins and aggregations.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73152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PySpark MLlib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07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Machine Learning Library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Scalable ML pipelines with VectorAssembler, StringIndexer, KMeans, RandomForestRegressor, and LogisticRegression.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73152" cy="1234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Databricks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624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Unified Analytics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Collaborative notebooks with Unity Catalog for managed Delta tables and seamless cluster management.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73152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Python / Pandas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624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Data Analysis &amp; Viz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8346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Matplotlib and Seaborn for plotting; NumPy for numerical operations on collected Spark results.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73152" cy="1234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SQL (SparkSQL)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Query Language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Temporal views and SQL aggregations for segment analysis and cohort retention metrics.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73152" cy="1234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Delta Lake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7857"/>
                </a:solidFill>
              </a:rPr>
              <a:t>Storage Layer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ACID-compliant managed tables (workspace.default.*) enabling reliable reads/writes in the Databricks catalog.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Data Overview &amp;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778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customers_data.csv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5,000 rows  ·  12 columns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Key Fields: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customer_id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3911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first_name, last_name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age, gender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97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email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9923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city, state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31927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37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customer_segment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annual_income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5935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77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credit_score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27939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297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registration_date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8778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products_data.csv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1,000 rows  ·  8 columns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Key Fields: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171907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product_id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203911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product_name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37560" y="235915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category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267919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2697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brand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37560" y="299923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price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37560" y="331927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29000" y="3337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cost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337560" y="363931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stock_quantity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37560" y="395935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429000" y="3977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rating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8778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transactions_data.csv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1097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50,000 rows  ·  12 columns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Key Fields: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171907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transaction_id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203911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customer_id, product_id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235915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6355080" y="2377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quantity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63640" y="267919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355080" y="2697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unit_price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299923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635508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discount_percent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63640" y="331927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6355080" y="3337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tax_amount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63640" y="363931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6355080" y="36576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total_amount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263640" y="395935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355080" y="3977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transaction_date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63640" y="427939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0" name="Text 68"/>
          <p:cNvSpPr/>
          <p:nvPr/>
        </p:nvSpPr>
        <p:spPr>
          <a:xfrm>
            <a:off x="6355080" y="4297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region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63640" y="4599432"/>
            <a:ext cx="246888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355080" y="4617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payment_method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63640" y="4919472"/>
            <a:ext cx="246888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Text 72"/>
          <p:cNvSpPr/>
          <p:nvPr/>
        </p:nvSpPr>
        <p:spPr>
          <a:xfrm>
            <a:off x="6355080" y="4937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status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6" name="Text 74"/>
          <p:cNvSpPr/>
          <p:nvPr/>
        </p:nvSpPr>
        <p:spPr>
          <a:xfrm>
            <a:off x="457200" y="482803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JOIN: transactions_df.join(customers_df, 'customer_id').join(products_df, 'product_id')  →  full_df (50,000 rows, 32 columns)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Exploratory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Revenue by Region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50292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Regional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097280"/>
            <a:ext cx="33832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0" y="109728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1143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East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$10.64M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23560" y="13807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Top performing region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1783080"/>
            <a:ext cx="33832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178308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Central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$10.59M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23560" y="2066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Close second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86400" y="2468880"/>
            <a:ext cx="33832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246888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562356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South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2514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$10.50M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23560" y="2752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Consistent performer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3154680"/>
            <a:ext cx="33832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315468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562356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North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$10.46M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23560" y="34381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Stable market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3840480"/>
            <a:ext cx="33832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384048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562356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West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58000" y="3886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</a:rPr>
              <a:t>$10.17M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23560" y="4123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Growth opportunity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432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Monthly Revenue Trend (2023-2024)</a:t>
            </a:r>
            <a:endParaRPr lang="en-US" sz="11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462272"/>
            <a:ext cx="877824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Category &amp; Segment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Revenue by Category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43891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Revenue by Customer Segment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840"/>
            <a:ext cx="438912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3703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Segment Breakdown: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3977640"/>
            <a:ext cx="4206240" cy="21945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Text 6"/>
          <p:cNvSpPr/>
          <p:nvPr/>
        </p:nvSpPr>
        <p:spPr>
          <a:xfrm>
            <a:off x="4754880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Standard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217920" y="39959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$22.2M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06640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23,447 txns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63440" y="4233672"/>
            <a:ext cx="4206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Basic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217920" y="4251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$13.3M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40664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14,136 txns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63440" y="4489704"/>
            <a:ext cx="4206240" cy="21945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4507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Premium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17920" y="4507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$10.5M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06640" y="4507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7,630 txns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0" y="4745736"/>
            <a:ext cx="42062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VIP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217920" y="47640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$6.3M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406640" y="47640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4,787 txns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ML Model 1 — Customer Segmentation (K-Means)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Algorithm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3566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Algorithm: </a:t>
            </a:r>
            <a:r>
              <a:rPr lang="en-US" sz="1000" dirty="0">
                <a:solidFill>
                  <a:srgbClr val="0F172A"/>
                </a:solidFill>
              </a:rPr>
              <a:t>K-Means (k=4, seed=42)
</a:t>
            </a:r>
            <a:r>
              <a:rPr lang="en-US" sz="1000" b="1" dirty="0">
                <a:solidFill>
                  <a:srgbClr val="0F172A"/>
                </a:solidFill>
              </a:rPr>
              <a:t>Features: </a:t>
            </a:r>
            <a:r>
              <a:rPr lang="en-US" sz="1000" dirty="0">
                <a:solidFill>
                  <a:srgbClr val="0F172A"/>
                </a:solidFill>
              </a:rPr>
              <a:t>total_spent, total_orders
</a:t>
            </a:r>
            <a:r>
              <a:rPr lang="en-US" sz="1000" b="1" dirty="0">
                <a:solidFill>
                  <a:srgbClr val="0F172A"/>
                </a:solidFill>
              </a:rPr>
              <a:t>Silhouette Score: </a:t>
            </a:r>
            <a:r>
              <a:rPr lang="en-US" sz="1000" dirty="0">
                <a:solidFill>
                  <a:srgbClr val="0F172A"/>
                </a:solidFill>
              </a:rPr>
              <a:t>0.692 (Good separation)
</a:t>
            </a:r>
            <a:r>
              <a:rPr lang="en-US" sz="1000" b="1" dirty="0">
                <a:solidFill>
                  <a:srgbClr val="0F172A"/>
                </a:solidFill>
              </a:rPr>
              <a:t>Pipeline: </a:t>
            </a:r>
            <a:r>
              <a:rPr lang="en-US" sz="1000" dirty="0">
                <a:solidFill>
                  <a:srgbClr val="0F172A"/>
                </a:solidFill>
              </a:rPr>
              <a:t>VectorAssembler → KMeans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Cluster Results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96312"/>
            <a:ext cx="960120" cy="32004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Cluster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0" y="2496312"/>
            <a:ext cx="960120" cy="32004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2496312"/>
            <a:ext cx="960120" cy="32004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Avg Spending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2496312"/>
            <a:ext cx="960120" cy="320040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2523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84378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88720" y="284378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356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03120" y="284378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$23,058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17520" y="284378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871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High Value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88720" y="3191256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1,121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03120" y="3191256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408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$15,052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17520" y="3191256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3218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Mid-High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53872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88720" y="353872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07008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1,946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03120" y="353872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1408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$9,815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17520" y="353872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5808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Mid Value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188720" y="3886200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07008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1,577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103120" y="3886200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21408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$5,181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017520" y="3886200"/>
            <a:ext cx="960120" cy="320040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39136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Low Value</a:t>
            </a:r>
            <a:endParaRPr lang="en-US" sz="95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804672"/>
            <a:ext cx="4572000" cy="256032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0" name="Text 47"/>
          <p:cNvSpPr/>
          <p:nvPr/>
        </p:nvSpPr>
        <p:spPr>
          <a:xfrm>
            <a:off x="457200" y="42245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PySpark K-Means Pipeline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VectorAssembler(inputCols=[</a:t>
            </a: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"total_spent", "total_orders"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outputCol=</a:t>
            </a: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"features"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|  kmeans = KMeans(k=</a:t>
            </a: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seed=</a:t>
            </a:r>
            <a:r>
              <a:rPr lang="en-US" sz="85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|  Silhouette: </a:t>
            </a:r>
            <a:r>
              <a:rPr lang="en-US" sz="8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ML Model 2 — Revenue Prediction (Random Forest)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86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50 Trees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DFA"/>
                </a:solidFill>
              </a:rPr>
              <a:t>numTrees param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8229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886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80/20 Split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1460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DFA"/>
                </a:solidFill>
              </a:rPr>
              <a:t>Train/Test ratio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92024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886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RMSE ≈ 4,364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DFA"/>
                </a:solidFill>
              </a:rPr>
              <a:t>CLV model error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0" y="822960"/>
            <a:ext cx="1920240" cy="8229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886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R² ≈ 0.98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DFA"/>
                </a:solidFill>
              </a:rPr>
              <a:t>Near-perfect 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801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Feature Importance (Revenue Prediction)</a:t>
            </a:r>
            <a:endParaRPr lang="en-US" sz="1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57400"/>
            <a:ext cx="4754880" cy="2834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0" y="1801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Sample Predictions vs Actuals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0" y="2103120"/>
            <a:ext cx="12344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47488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Actual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81928" y="2103120"/>
            <a:ext cx="12344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0216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Predicted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534656" y="2103120"/>
            <a:ext cx="1234440" cy="347472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52944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Error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29200" y="2487168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$883.75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81928" y="2487168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0216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$913.17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534656" y="2487168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52944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+$29.42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29200" y="2871216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47488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$389.08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281928" y="2871216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0216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$368.20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534656" y="2871216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52944" y="28986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-$20.88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029200" y="325526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47488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$1,225.20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281928" y="325526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0216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$1,200.14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534656" y="325526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552944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-$25.06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029200" y="3639312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47488" y="3666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$174.79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281928" y="3639312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00216" y="3666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$191.85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534656" y="3639312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52944" y="3666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+$17.06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029200" y="4023360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47488" y="4050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$2,096.71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281928" y="4023360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00216" y="4050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$1,740.53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534656" y="4023360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52944" y="4050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-$356.18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029200" y="4407408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47488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$762.60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281928" y="4407408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00216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$728.43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534656" y="4407408"/>
            <a:ext cx="123444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552944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-$34.17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5029200" y="4736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Model handles pricing well; outliers at extreme values affect high-value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ML Model 3 — Churn Prediction &amp; RFM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Prediction — Logistic Regression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023360" cy="420624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984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Features: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6304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quantity, unit_price, discount_percent, tax_amount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7393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Label: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17739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is_returned (cast to int binary)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023360" cy="420624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2494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Train/Test: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63040" y="2249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80% / 20% random split (seed=42)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24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Accuracy: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~95% — High precision, low recall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4023360" cy="420624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Issue: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Class imbalance (mostly non-returned)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Recommendation: Apply SMOTE oversampling or class_weight to handle imbalance for future iterations.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804672"/>
            <a:ext cx="42062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850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RFM Customer Segmentation</a:t>
            </a:r>
            <a:endParaRPr lang="en-US" sz="1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206240" cy="25603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663440" y="3822192"/>
            <a:ext cx="4206240" cy="2743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Shape 24"/>
          <p:cNvSpPr/>
          <p:nvPr/>
        </p:nvSpPr>
        <p:spPr>
          <a:xfrm>
            <a:off x="4663440" y="3822192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4773168" y="38496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Champions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89320" y="38496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9.7%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583680" y="3849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R=4, F=4 — Most valuable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63440" y="4133088"/>
            <a:ext cx="42062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663440" y="4133088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0"/>
          <p:cNvSpPr/>
          <p:nvPr/>
        </p:nvSpPr>
        <p:spPr>
          <a:xfrm>
            <a:off x="4773168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Loyal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989320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40.3%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583680" y="4160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F≥3 — Frequent buyers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663440" y="4443984"/>
            <a:ext cx="4206240" cy="2743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7" name="Shape 34"/>
          <p:cNvSpPr/>
          <p:nvPr/>
        </p:nvSpPr>
        <p:spPr>
          <a:xfrm>
            <a:off x="4663440" y="4443984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4773168" y="4471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At Risk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989320" y="44714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19.3%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83680" y="44714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R≥3 — Lapsing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663440" y="4754880"/>
            <a:ext cx="42062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4663440" y="4754880"/>
            <a:ext cx="54864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0"/>
          <p:cNvSpPr/>
          <p:nvPr/>
        </p:nvSpPr>
        <p:spPr>
          <a:xfrm>
            <a:off x="4773168" y="47823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Hibernating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989320" y="47823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30.7%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583680" y="4782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Low R, F, 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Executive KPI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$52.4M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Across all regions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50,000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Completed transactions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15361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5,000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304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Unique accounts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🧾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$1,047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Per transaction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37560" y="3547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East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37560" y="40965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Top Region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$10.64M revenue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63640" y="35478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</a:rPr>
              <a:t>$17.2M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263640" y="40965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Electronics Rev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Highest category</a:t>
            </a:r>
            <a:endParaRPr lang="en-US" sz="9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846320"/>
            <a:ext cx="8778240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Results &amp; Model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Model Evaluation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Key Metric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05332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Score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170432"/>
            <a:ext cx="1508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516368" y="1207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Customer Segmentation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K-Means (k=4)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Cluster labels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Silhouette Score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0.692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1536192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15727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✅ Good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Revenue Prediction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Random Forest (50 trees)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total_amount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RMSE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~Low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1920240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1956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✅ Strong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CLV Prediction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Random Forest (50 trees)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0896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lifetime_value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RMSE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3504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4,364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498080" y="2304288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4380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⚠️ Moderate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Churn Classification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4592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Logistic Regression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0896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5468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is_returned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Accuracy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3504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076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~95%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98080" y="2688336"/>
            <a:ext cx="1508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27249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⚠️ Imbalanced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Monthly Forecast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64592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9164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0896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5468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monthly revenue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</a:rPr>
              <a:t>Prediction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03504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8076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</a:rPr>
              <a:t>$2.20M/mo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98080" y="3072384"/>
            <a:ext cx="1508760" cy="347472"/>
          </a:xfrm>
          <a:prstGeom prst="rect">
            <a:avLst/>
          </a:prstGeom>
          <a:solidFill>
            <a:srgbClr val="F0FD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3800" y="3108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✅ Stable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7432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Key Business Insights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274320" y="38862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65760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💡 Electronics dominates at 32.9% revenue share — prioritize inventory &amp; marketing investment.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09160" y="3886200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800600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💡 Standard segment drives 42% of revenue — highest transaction volume; critical for retention.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4453128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65760" y="4507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💡 tax_amount (58.6%) and unit_price (32.9%) are the strongest predictors of total revenue.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709160" y="4453128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4800600" y="4507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💡 30.7% of customers are Hibernating — re-engagement campaigns could recover significant CLV.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07  |  Analytics Dashboard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" y="640080"/>
            <a:ext cx="292608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685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Revenue by Category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896112"/>
            <a:ext cx="283464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640080"/>
            <a:ext cx="594360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6858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K-Means Clusters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896112"/>
            <a:ext cx="5852160" cy="1874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" y="2926080"/>
            <a:ext cx="438912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2880" y="29718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Customer Segments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3182112"/>
            <a:ext cx="4297680" cy="17830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2926080"/>
            <a:ext cx="438912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54880" y="29718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</a:rPr>
              <a:t>RFM Segmentation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182112"/>
            <a:ext cx="42976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Conclusion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What We Achieved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161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" y="1234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Built an end-to-end PySpark ML platform processing 50,000 transactions on Databricks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63624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63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15819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Identified 4 distinct customer clusters with 0.692 silhouette score for targeted marketing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110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19293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Achieved near-perfect revenue prediction accuracy using Random Forest with tax &amp; price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258568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58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22768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Segmented customers via RFM — 9.7% Champions and 30.7% Hibernating (re-engagement targets)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27432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606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26243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Revealed Electronics (32.9%) and Furniture (24.2%) as top revenue drivers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Limitations &amp; Future 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11480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8221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Class imbalance in churn model needs SMOTE/resampling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1696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Monthly forecasting collapses to mean (single-feature RF)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4517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CLV model RMSE of 4,364 needs richer features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456432"/>
            <a:ext cx="411480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8221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Add real-time streaming with Spark Structured Streaming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1696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Deploy models via MLflow Model Registry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4517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• Expand features: browsing data, seasonal signals, demographics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E-Commerce Predictive Analytics Platform  |  DS 610 — Big Data Analytics  |  Powered by Apache Spark &amp; Databricks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1248</Words>
  <Application>Microsoft Office PowerPoint</Application>
  <PresentationFormat>On-screen Show (16:9)</PresentationFormat>
  <Paragraphs>374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Predictive Analytics Platform</dc:title>
  <dc:subject>PptxGenJS Presentation</dc:subject>
  <dc:creator>DS 610 Project Team</dc:creator>
  <cp:lastModifiedBy>Manish</cp:lastModifiedBy>
  <cp:revision>3</cp:revision>
  <dcterms:created xsi:type="dcterms:W3CDTF">2026-02-23T05:19:19Z</dcterms:created>
  <dcterms:modified xsi:type="dcterms:W3CDTF">2026-02-26T19:02:25Z</dcterms:modified>
</cp:coreProperties>
</file>